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50377c964d4f87" /><Relationship Type="http://schemas.openxmlformats.org/package/2006/relationships/metadata/core-properties" Target="/docProps/core.xml" Id="R561c12ed88ae4792" /><Relationship Type="http://schemas.openxmlformats.org/officeDocument/2006/relationships/extended-properties" Target="/docProps/app.xml" Id="R35788927a8fc4c7f" /><Relationship Type="http://schemas.openxmlformats.org/officeDocument/2006/relationships/custom-properties" Target="/docProps/custom.xml" Id="Rf85b1226060e4e1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7f5ee16aa2374e38"/>
  </p:notesMasterIdLst>
  <p:sldIdLst>
    <p:sldId id="256" r:id="R942c8a548e934b94"/>
    <p:sldId id="257" r:id="R6882e41d29024667"/>
    <p:sldId id="258" r:id="Rfa3cb6143e604c05"/>
    <p:sldId id="259" r:id="R5118c9df4d7d4847"/>
    <p:sldId id="260" r:id="R03e625178e1d42ad"/>
    <p:sldId id="261" r:id="R6aeb7a21579f4a87"/>
    <p:sldId id="262" r:id="R8f781c9bae484d8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42c8a548e934b94" /><Relationship Type="http://schemas.openxmlformats.org/officeDocument/2006/relationships/notesMaster" Target="/ppt/notesMasters/notesMaster1.xml" Id="R7f5ee16aa2374e38" /><Relationship Type="http://schemas.openxmlformats.org/officeDocument/2006/relationships/slide" Target="/ppt/slides/slide2.xml" Id="R6882e41d29024667" /><Relationship Type="http://schemas.openxmlformats.org/officeDocument/2006/relationships/slide" Target="/ppt/slides/slide3.xml" Id="Rfa3cb6143e604c05" /><Relationship Type="http://schemas.openxmlformats.org/officeDocument/2006/relationships/slide" Target="/ppt/slides/slide4.xml" Id="R5118c9df4d7d4847" /><Relationship Type="http://schemas.openxmlformats.org/officeDocument/2006/relationships/slide" Target="/ppt/slides/slide5.xml" Id="R03e625178e1d42ad" /><Relationship Type="http://schemas.openxmlformats.org/officeDocument/2006/relationships/slide" Target="/ppt/slides/slide6.xml" Id="R6aeb7a21579f4a87" /><Relationship Type="http://schemas.openxmlformats.org/officeDocument/2006/relationships/slide" Target="/ppt/slides/slide7.xml" Id="R8f781c9bae484d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db86d924b2c4cb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f346c82618348ec" /><Relationship Type="http://schemas.openxmlformats.org/officeDocument/2006/relationships/slide" Target="/ppt/slides/slide1.xml" Id="R9d70c05442a345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a131845ad274d7c" /><Relationship Type="http://schemas.openxmlformats.org/officeDocument/2006/relationships/slide" Target="/ppt/slides/slide2.xml" Id="Rb723152f214649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1a25b7eb9d422f" /><Relationship Type="http://schemas.openxmlformats.org/officeDocument/2006/relationships/slide" Target="/ppt/slides/slide3.xml" Id="Rfe9b2e1433f143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cc02a0cfa3a42c5" /><Relationship Type="http://schemas.openxmlformats.org/officeDocument/2006/relationships/slide" Target="/ppt/slides/slide4.xml" Id="Rd2cdc80c1ffd44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6c7936eff4e4681" /><Relationship Type="http://schemas.openxmlformats.org/officeDocument/2006/relationships/slide" Target="/ppt/slides/slide5.xml" Id="Raf592edc2da942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0e7f852578c4778" /><Relationship Type="http://schemas.openxmlformats.org/officeDocument/2006/relationships/slide" Target="/ppt/slides/slide6.xml" Id="R622dfa91e0834a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8c83d8f4e64fbe" /><Relationship Type="http://schemas.openxmlformats.org/officeDocument/2006/relationships/slide" Target="/ppt/slides/slide7.xml" Id="R0f8b80b37e2348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HarborLens is a 72-hour port congestion copilot built for the IBM Bob Hackathon 2026, AI track.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Port supervisors allocate berths and cranes from fragmented schedules and spreadsheets — they discover congestion after vessels are already queuing.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Four-step pipeline: ingest fleet data, score risk deterministically, generate a constrained 72-hour berth plan, and produce an IBM Bob-grounded shift brief.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Six key features of the working prototype as of the final submission. All run locally with zero external dependencies.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Three-tier architecture. Frontend computes all risk scoring locally in the browser. FastAPI handles auth and CRUD. SQLite for local dev, PostgreSQL for production.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port-operations.md skill constrains Bob to cite only data visible in the app or source. It cannot control terminal systems and always defers to the supervisor.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Four concrete impact statements. Team credits. Run with: python src/backend/server.py then open http://localhost:8000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19107c93e4c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bfda122ec40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e7faf944942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b583828f749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b7da850934fa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aa557f938c44e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2f14120094f8c" /><Relationship Type="http://schemas.openxmlformats.org/officeDocument/2006/relationships/notesSlide" Target="/ppt/notesSlides/notesSlide1.xml" Id="Rcdb666340b364b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baccf672c48d3" /><Relationship Type="http://schemas.openxmlformats.org/officeDocument/2006/relationships/notesSlide" Target="/ppt/notesSlides/notesSlide2.xml" Id="R36108765aa9947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d92a97ff64686" /><Relationship Type="http://schemas.openxmlformats.org/officeDocument/2006/relationships/notesSlide" Target="/ppt/notesSlides/notesSlide3.xml" Id="Raf260361a5ab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4fd1798534727" /><Relationship Type="http://schemas.openxmlformats.org/officeDocument/2006/relationships/notesSlide" Target="/ppt/notesSlides/notesSlide4.xml" Id="R29a12abd867d44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3b4c0e010449b" /><Relationship Type="http://schemas.openxmlformats.org/officeDocument/2006/relationships/notesSlide" Target="/ppt/notesSlides/notesSlide5.xml" Id="Rf858f2ce9307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6d46d186044d7" /><Relationship Type="http://schemas.openxmlformats.org/officeDocument/2006/relationships/notesSlide" Target="/ppt/notesSlides/notesSlide6.xml" Id="R092954683e9a4d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20572982740eb" /><Relationship Type="http://schemas.openxmlformats.org/officeDocument/2006/relationships/notesSlide" Target="/ppt/notesSlides/notesSlide7.xml" Id="R557f6555ff544f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D6C"/>
        </a:solidFill>
      </p:bgPr>
    </p:bg>
    <p:spTree>
      <p:nvGrpSpPr>
        <p:cNvPr id="1" name=""/>
        <p:cNvGrpSpPr/>
        <p:nvPr/>
      </p:nvGrpSpPr>
      <p:grpSpPr/>
      <p:sp>
        <p:nvSpPr>
          <p:cNvPr id="100000" name="Badge"/>
          <p:cNvSpPr txBox="1"/>
          <p:nvPr/>
        </p:nvSpPr>
        <p:spPr>
          <a:xfrm xmlns:a="http://schemas.openxmlformats.org/drawingml/2006/main">
            <a:off x="720000" y="504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A6C8FF"/>
                </a:solidFill>
              </a:rPr>
              <a:t>IBM BOB AI HACKATHON 2026  ·  AI TRACK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080000"/>
            <a:ext cx="10440000" cy="12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600" b="1">
                <a:solidFill>
                  <a:srgbClr val="FFFFFF"/>
                </a:solidFill>
              </a:rPr>
              <a:t>HarborLens</a:t>
            </a:r>
          </a:p>
        </p:txBody>
      </p:sp>
      <p:sp>
        <p:nvSpPr>
          <p:cNvPr id="100002" name="Tagline"/>
          <p:cNvSpPr txBox="1"/>
          <p:nvPr/>
        </p:nvSpPr>
        <p:spPr>
          <a:xfrm xmlns:a="http://schemas.openxmlformats.org/drawingml/2006/main">
            <a:off x="720000" y="2448000"/>
            <a:ext cx="104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D0E2FF"/>
                </a:solidFill>
              </a:rPr>
              <a:t>Explainable port congestion planning for the next 72 hours</a:t>
            </a:r>
          </a:p>
        </p:txBody>
      </p:sp>
      <p:sp>
        <p:nvSpPr>
          <p:cNvPr id="100003" name="Sub"/>
          <p:cNvSpPr txBox="1"/>
          <p:nvPr/>
        </p:nvSpPr>
        <p:spPr>
          <a:xfrm xmlns:a="http://schemas.openxmlformats.org/drawingml/2006/main">
            <a:off x="720000" y="3096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AB4F8"/>
                </a:solidFill>
              </a:rPr>
              <a:t>Port Operations Copilot  ·  Team HarborLens Crew</a:t>
            </a:r>
          </a:p>
        </p:txBody>
      </p:sp>
      <p:sp>
        <p:nvSpPr>
          <p:cNvPr id="100004" name="Disclaimer"/>
          <p:cNvSpPr txBox="1"/>
          <p:nvPr/>
        </p:nvSpPr>
        <p:spPr>
          <a:xfrm xmlns:a="http://schemas.openxmlformats.org/drawingml/2006/main">
            <a:off x="720000" y="6300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4A6FA5"/>
                </a:solidFill>
              </a:rPr>
              <a:t>Synthetic demo data · Supervisor approval required for all actions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SlideNum"/>
          <p:cNvSpPr txBox="1"/>
          <p:nvPr/>
        </p:nvSpPr>
        <p:spPr>
          <a:xfrm xmlns:a="http://schemas.openxmlformats.org/drawingml/2006/main">
            <a:off x="11160000" y="180000"/>
            <a:ext cx="5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A0AEC0"/>
                </a:solidFill>
              </a:rPr>
              <a:t>02</a:t>
            </a:r>
          </a:p>
        </p:txBody>
      </p:sp>
      <p:sp>
        <p:nvSpPr>
          <p:cNvPr id="100006" name="Label"/>
          <p:cNvSpPr txBox="1"/>
          <p:nvPr/>
        </p:nvSpPr>
        <p:spPr>
          <a:xfrm xmlns:a="http://schemas.openxmlformats.org/drawingml/2006/main">
            <a:off x="720000" y="360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F62FE"/>
                </a:solidFill>
              </a:rPr>
              <a:t>PROBLEM</a:t>
            </a:r>
          </a:p>
        </p:txBody>
      </p:sp>
      <p:sp>
        <p:nvSpPr>
          <p:cNvPr id="100007" name="Title"/>
          <p:cNvSpPr txBox="1"/>
          <p:nvPr/>
        </p:nvSpPr>
        <p:spPr>
          <a:xfrm xmlns:a="http://schemas.openxmlformats.org/drawingml/2006/main">
            <a:off x="720000" y="648000"/>
            <a:ext cx="104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01D6C"/>
                </a:solidFill>
              </a:rPr>
              <a:t>Congestion becomes visible after the useful action window closes</a:t>
            </a:r>
          </a:p>
        </p:txBody>
      </p:sp>
      <p:sp>
        <p:nvSpPr>
          <p:cNvPr id="100008" name="Box1"/>
          <p:cNvSpPr txBox="1"/>
          <p:nvPr/>
        </p:nvSpPr>
        <p:spPr>
          <a:xfrm xmlns:a="http://schemas.openxmlformats.org/drawingml/2006/main">
            <a:off x="720000" y="1800000"/>
            <a:ext cx="3168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Fragmented inputs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Vessel schedules show events — not the operational trade-offs between arriving ships.</a:t>
            </a:r>
          </a:p>
        </p:txBody>
      </p:sp>
      <p:sp>
        <p:nvSpPr>
          <p:cNvPr id="100009" name="Box2"/>
          <p:cNvSpPr txBox="1"/>
          <p:nvPr/>
        </p:nvSpPr>
        <p:spPr>
          <a:xfrm xmlns:a="http://schemas.openxmlformats.org/drawingml/2006/main">
            <a:off x="4104000" y="1800000"/>
            <a:ext cx="3168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Cascading delays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One late vessel or offline berth creates queue pressure that compounds across the shift.</a:t>
            </a:r>
          </a:p>
        </p:txBody>
      </p:sp>
      <p:sp>
        <p:nvSpPr>
          <p:cNvPr id="100010" name="Box3"/>
          <p:cNvSpPr txBox="1"/>
          <p:nvPr/>
        </p:nvSpPr>
        <p:spPr>
          <a:xfrm xmlns:a="http://schemas.openxmlformats.org/drawingml/2006/main">
            <a:off x="7488000" y="1800000"/>
            <a:ext cx="3168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Priority cargo exposure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Cold-chain and connection-sensitive cargo requires a defensible response before ships wait offshore.</a:t>
            </a:r>
          </a:p>
        </p:txBody>
      </p:sp>
      <p:sp>
        <p:nvSpPr>
          <p:cNvPr id="100011" name="Source"/>
          <p:cNvSpPr txBox="1"/>
          <p:nvPr/>
        </p:nvSpPr>
        <p:spPr>
          <a:xfrm xmlns:a="http://schemas.openxmlformats.org/drawingml/2006/main">
            <a:off x="720000" y="604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4A3B8"/>
                </a:solidFill>
              </a:rPr>
              <a:t>Context: 2021 LA/Long Beach backlog exceeded 100 ships · ~$10B estimated supply-chain cost  ·  Source: Industry Problem Statements 2026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2" name="SlideNum"/>
          <p:cNvSpPr txBox="1"/>
          <p:nvPr/>
        </p:nvSpPr>
        <p:spPr>
          <a:xfrm xmlns:a="http://schemas.openxmlformats.org/drawingml/2006/main">
            <a:off x="11160000" y="180000"/>
            <a:ext cx="5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A0AEC0"/>
                </a:solidFill>
              </a:rPr>
              <a:t>03</a:t>
            </a:r>
          </a:p>
        </p:txBody>
      </p:sp>
      <p:sp>
        <p:nvSpPr>
          <p:cNvPr id="100013" name="Label"/>
          <p:cNvSpPr txBox="1"/>
          <p:nvPr/>
        </p:nvSpPr>
        <p:spPr>
          <a:xfrm xmlns:a="http://schemas.openxmlformats.org/drawingml/2006/main">
            <a:off x="720000" y="360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F62FE"/>
                </a:solidFill>
              </a:rPr>
              <a:t>SOLUTION</a:t>
            </a:r>
          </a:p>
        </p:txBody>
      </p:sp>
      <p:sp>
        <p:nvSpPr>
          <p:cNvPr id="100014" name="Title"/>
          <p:cNvSpPr txBox="1"/>
          <p:nvPr/>
        </p:nvSpPr>
        <p:spPr>
          <a:xfrm xmlns:a="http://schemas.openxmlformats.org/drawingml/2006/main">
            <a:off x="720000" y="648000"/>
            <a:ext cx="104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01D6C"/>
                </a:solidFill>
              </a:rPr>
              <a:t>A transparent, explainable recommendation engine for the supervisor's shift</a:t>
            </a:r>
          </a:p>
        </p:txBody>
      </p:sp>
      <p:sp>
        <p:nvSpPr>
          <p:cNvPr id="100015" name="Step1"/>
          <p:cNvSpPr txBox="1"/>
          <p:nvPr/>
        </p:nvSpPr>
        <p:spPr>
          <a:xfrm xmlns:a="http://schemas.openxmlformats.org/drawingml/2006/main">
            <a:off x="720000" y="1800000"/>
            <a:ext cx="24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01  Manage Fleet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Vessel schedules, berth assignments, cargo urgency, and disruption settings stored per operator.</a:t>
            </a:r>
          </a:p>
        </p:txBody>
      </p:sp>
      <p:sp>
        <p:nvSpPr>
          <p:cNvPr id="100016" name="Step2"/>
          <p:cNvSpPr txBox="1"/>
          <p:nvPr/>
        </p:nvSpPr>
        <p:spPr>
          <a:xfrm xmlns:a="http://schemas.openxmlformats.org/drawingml/2006/main">
            <a:off x="3384000" y="1800000"/>
            <a:ext cx="24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02  Score Risk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Deterministic 6-factor formula: utilization + dwell + urgency + weather + capacity + arrival delay. Every score cites its drivers.</a:t>
            </a:r>
          </a:p>
        </p:txBody>
      </p:sp>
      <p:sp>
        <p:nvSpPr>
          <p:cNvPr id="100017" name="Step3"/>
          <p:cNvSpPr txBox="1"/>
          <p:nvPr/>
        </p:nvSpPr>
        <p:spPr>
          <a:xfrm xmlns:a="http://schemas.openxmlformats.org/drawingml/2006/main">
            <a:off x="6048000" y="1800000"/>
            <a:ext cx="24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03  Plan Response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SVG ring gauge queue, berth sequence, crane allocation, and real-time before/after diff on scenario apply.</a:t>
            </a:r>
          </a:p>
        </p:txBody>
      </p:sp>
      <p:sp>
        <p:nvSpPr>
          <p:cNvPr id="100018" name="Step4"/>
          <p:cNvSpPr txBox="1"/>
          <p:nvPr/>
        </p:nvSpPr>
        <p:spPr>
          <a:xfrm xmlns:a="http://schemas.openxmlformats.org/drawingml/2006/main">
            <a:off x="8712000" y="1800000"/>
            <a:ext cx="24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04  Brief with Bob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IBM Bob uses port-operations.md to inspect the source, validate the plan, and produce an auditable BLUF shift brief.</a:t>
            </a:r>
          </a:p>
        </p:txBody>
      </p:sp>
      <p:sp>
        <p:nvSpPr>
          <p:cNvPr id="100019" name="Disclaimer"/>
          <p:cNvSpPr txBox="1"/>
          <p:nvPr/>
        </p:nvSpPr>
        <p:spPr>
          <a:xfrm xmlns:a="http://schemas.openxmlformats.org/drawingml/2006/main">
            <a:off x="720000" y="6048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4A3B8"/>
                </a:solidFill>
              </a:rPr>
              <a:t>The prototype never controls terminal systems. All recommendations require supervisor review and approval before execution.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0" name="SlideNum"/>
          <p:cNvSpPr txBox="1"/>
          <p:nvPr/>
        </p:nvSpPr>
        <p:spPr>
          <a:xfrm xmlns:a="http://schemas.openxmlformats.org/drawingml/2006/main">
            <a:off x="11160000" y="180000"/>
            <a:ext cx="5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A0AEC0"/>
                </a:solidFill>
              </a:rPr>
              <a:t>04</a:t>
            </a:r>
          </a:p>
        </p:txBody>
      </p:sp>
      <p:sp>
        <p:nvSpPr>
          <p:cNvPr id="100021" name="Label"/>
          <p:cNvSpPr txBox="1"/>
          <p:nvPr/>
        </p:nvSpPr>
        <p:spPr>
          <a:xfrm xmlns:a="http://schemas.openxmlformats.org/drawingml/2006/main">
            <a:off x="720000" y="36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F62FE"/>
                </a:solidFill>
              </a:rPr>
              <a:t>WORKING PROTOTYPE</a:t>
            </a:r>
          </a:p>
        </p:txBody>
      </p:sp>
      <p:sp>
        <p:nvSpPr>
          <p:cNvPr id="100022" name="Title"/>
          <p:cNvSpPr txBox="1"/>
          <p:nvPr/>
        </p:nvSpPr>
        <p:spPr>
          <a:xfrm xmlns:a="http://schemas.openxmlformats.org/drawingml/2006/main">
            <a:off x="720000" y="648000"/>
            <a:ext cx="104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01D6C"/>
                </a:solidFill>
              </a:rPr>
              <a:t>Risk queue, utilization chart, scenario diff, and grounded shift brief</a:t>
            </a:r>
          </a:p>
        </p:txBody>
      </p:sp>
      <p:sp>
        <p:nvSpPr>
          <p:cNvPr id="100023" name="F1"/>
          <p:cNvSpPr txBox="1"/>
          <p:nvPr/>
        </p:nvSpPr>
        <p:spPr>
          <a:xfrm xmlns:a="http://schemas.openxmlformats.org/drawingml/2006/main">
            <a:off x="720000" y="1800000"/>
            <a:ext cx="48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🔴  SVG Ring Gauges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Color-coded 0–99 score rings on every vessel card — red ≥70 critical, amber 40–69 watch, green normal.</a:t>
            </a:r>
          </a:p>
        </p:txBody>
      </p:sp>
      <p:sp>
        <p:nvSpPr>
          <p:cNvPr id="100024" name="F2"/>
          <p:cNvSpPr txBox="1"/>
          <p:nvPr/>
        </p:nvSpPr>
        <p:spPr>
          <a:xfrm xmlns:a="http://schemas.openxmlformats.org/drawingml/2006/main">
            <a:off x="5940000" y="1800000"/>
            <a:ext cx="48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📊  Fleet Utilization Chart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SVG bar chart with per-vessel utilization %, 80% threshold line, and risk score labels below each bar.</a:t>
            </a:r>
          </a:p>
        </p:txBody>
      </p:sp>
      <p:sp>
        <p:nvSpPr>
          <p:cNvPr id="100025" name="F3"/>
          <p:cNvSpPr txBox="1"/>
          <p:nvPr/>
        </p:nvSpPr>
        <p:spPr>
          <a:xfrm xmlns:a="http://schemas.openxmlformats.org/drawingml/2006/main">
            <a:off x="720000" y="3168000"/>
            <a:ext cx="48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9E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🌊  What-If Studio with Diff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Apply scenario → changed berth rows flash yellow, show struck-through old berth → new, and ▲/▼ score deltas.</a:t>
            </a:r>
          </a:p>
        </p:txBody>
      </p:sp>
      <p:sp>
        <p:nvSpPr>
          <p:cNvPr id="100026" name="F4"/>
          <p:cNvSpPr txBox="1"/>
          <p:nvPr/>
        </p:nvSpPr>
        <p:spPr>
          <a:xfrm xmlns:a="http://schemas.openxmlformats.org/drawingml/2006/main">
            <a:off x="5940000" y="3168000"/>
            <a:ext cx="48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📋  Polished BLUF Brief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Two-column structured brief: timestamp, BLUF paragraph, numbered action rows with risk pills, top-3 risk table with mini ring gauges, Bob integration box.</a:t>
            </a:r>
          </a:p>
        </p:txBody>
      </p:sp>
      <p:sp>
        <p:nvSpPr>
          <p:cNvPr id="100027" name="F5"/>
          <p:cNvSpPr txBox="1"/>
          <p:nvPr/>
        </p:nvSpPr>
        <p:spPr>
          <a:xfrm xmlns:a="http://schemas.openxmlformats.org/drawingml/2006/main">
            <a:off x="720000" y="4536000"/>
            <a:ext cx="48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B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🎯  Guided Demo Walkthrough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?demo=stress and ?demo=brief modes launch a step-by-step overlay with highlight box and tooltip navigator.</a:t>
            </a:r>
          </a:p>
        </p:txBody>
      </p:sp>
      <p:sp>
        <p:nvSpPr>
          <p:cNvPr id="100028" name="F6"/>
          <p:cNvSpPr txBox="1"/>
          <p:nvPr/>
        </p:nvSpPr>
        <p:spPr>
          <a:xfrm xmlns:a="http://schemas.openxmlformats.org/drawingml/2006/main">
            <a:off x="5940000" y="4536000"/>
            <a:ext cx="48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🔒  Per-User Auth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PBKDF2 passwords + HMAC session tokens + Okta/Entra SSO demo. Each user's vessels are private.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9" name="SlideNum"/>
          <p:cNvSpPr txBox="1"/>
          <p:nvPr/>
        </p:nvSpPr>
        <p:spPr>
          <a:xfrm xmlns:a="http://schemas.openxmlformats.org/drawingml/2006/main">
            <a:off x="11160000" y="180000"/>
            <a:ext cx="5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A0AEC0"/>
                </a:solidFill>
              </a:rPr>
              <a:t>05</a:t>
            </a:r>
          </a:p>
        </p:txBody>
      </p:sp>
      <p:sp>
        <p:nvSpPr>
          <p:cNvPr id="100030" name="Label"/>
          <p:cNvSpPr txBox="1"/>
          <p:nvPr/>
        </p:nvSpPr>
        <p:spPr>
          <a:xfrm xmlns:a="http://schemas.openxmlformats.org/drawingml/2006/main">
            <a:off x="720000" y="360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F62FE"/>
                </a:solidFill>
              </a:rPr>
              <a:t>ARCHITECTURE</a:t>
            </a:r>
          </a:p>
        </p:txBody>
      </p:sp>
      <p:sp>
        <p:nvSpPr>
          <p:cNvPr id="100031" name="Title"/>
          <p:cNvSpPr txBox="1"/>
          <p:nvPr/>
        </p:nvSpPr>
        <p:spPr>
          <a:xfrm xmlns:a="http://schemas.openxmlformats.org/drawingml/2006/main">
            <a:off x="720000" y="648000"/>
            <a:ext cx="104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01D6C"/>
                </a:solidFill>
              </a:rPr>
              <a:t>FastAPI + SQLite/PostgreSQL + vanilla JS — zero external build step</a:t>
            </a:r>
          </a:p>
        </p:txBody>
      </p:sp>
      <p:sp>
        <p:nvSpPr>
          <p:cNvPr id="100032" name="Frontend"/>
          <p:cNvSpPr txBox="1"/>
          <p:nvPr/>
        </p:nvSpPr>
        <p:spPr>
          <a:xfrm xmlns:a="http://schemas.openxmlformats.org/drawingml/2006/main">
            <a:off x="720000" y="1800000"/>
            <a:ext cx="2808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FRONTEND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Vanilla JS · No framework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SVG risk gauges · Bar chart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Scenario diff · Demo walkthrough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IBM Plex Sans tokens</a:t>
            </a:r>
          </a:p>
        </p:txBody>
      </p:sp>
      <p:sp>
        <p:nvSpPr>
          <p:cNvPr id="100033" name="Arrow1"/>
          <p:cNvSpPr txBox="1"/>
          <p:nvPr/>
        </p:nvSpPr>
        <p:spPr>
          <a:xfrm xmlns:a="http://schemas.openxmlformats.org/drawingml/2006/main">
            <a:off x="3708000" y="2700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F62FE"/>
                </a:solidFill>
              </a:rPr>
              <a:t>→</a:t>
            </a:r>
          </a:p>
        </p:txBody>
      </p:sp>
      <p:sp>
        <p:nvSpPr>
          <p:cNvPr id="100034" name="Backend"/>
          <p:cNvSpPr txBox="1"/>
          <p:nvPr/>
        </p:nvSpPr>
        <p:spPr>
          <a:xfrm xmlns:a="http://schemas.openxmlformats.org/drawingml/2006/main">
            <a:off x="4320000" y="1800000"/>
            <a:ext cx="2808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BACKEND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FastAPI + Uvicorn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Per-user vessel CRUD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PBKDF2 auth + HMAC tokens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Okta / Entra SSO demo</a:t>
            </a:r>
          </a:p>
        </p:txBody>
      </p:sp>
      <p:sp>
        <p:nvSpPr>
          <p:cNvPr id="100035" name="Arrow2"/>
          <p:cNvSpPr txBox="1"/>
          <p:nvPr/>
        </p:nvSpPr>
        <p:spPr>
          <a:xfrm xmlns:a="http://schemas.openxmlformats.org/drawingml/2006/main">
            <a:off x="7308000" y="2700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F62FE"/>
                </a:solidFill>
              </a:rPr>
              <a:t>→</a:t>
            </a:r>
          </a:p>
        </p:txBody>
      </p:sp>
      <p:sp>
        <p:nvSpPr>
          <p:cNvPr id="100036" name="DB"/>
          <p:cNvSpPr txBox="1"/>
          <p:nvPr/>
        </p:nvSpPr>
        <p:spPr>
          <a:xfrm xmlns:a="http://schemas.openxmlformats.org/drawingml/2006/main">
            <a:off x="7920000" y="1800000"/>
            <a:ext cx="2808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BE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DATABASE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SQLite (local dev)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PostgreSQL via DATABASE_URL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SQLAlchemy ORM</a:t>
            </a:r>
          </a:p>
          <a:p xmlns:a="http://schemas.openxmlformats.org/drawingml/2006/main">
            <a:r>
              <a:rPr lang="en-US" sz="1300" b="0">
                <a:solidFill>
                  <a:srgbClr val="1E293B"/>
                </a:solidFill>
              </a:rPr>
              <a:t>Auto-seeded starter fleet</a:t>
            </a:r>
          </a:p>
        </p:txBody>
      </p:sp>
      <p:sp>
        <p:nvSpPr>
          <p:cNvPr id="100037" name="BobBox"/>
          <p:cNvSpPr txBox="1"/>
          <p:nvPr/>
        </p:nvSpPr>
        <p:spPr>
          <a:xfrm xmlns:a="http://schemas.openxmlformats.org/drawingml/2006/main">
            <a:off x="720000" y="4392000"/>
            <a:ext cx="10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>IBM Bob skill:  src/bob-skills/port-operations.md  ·  Grounds Bob in the same deterministic plan visible to the supervisor  ·  Produces auditable BLUF brief without inventing facts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8" name="SlideNum"/>
          <p:cNvSpPr txBox="1"/>
          <p:nvPr/>
        </p:nvSpPr>
        <p:spPr>
          <a:xfrm xmlns:a="http://schemas.openxmlformats.org/drawingml/2006/main">
            <a:off x="11160000" y="180000"/>
            <a:ext cx="5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A0AEC0"/>
                </a:solidFill>
              </a:rPr>
              <a:t>06</a:t>
            </a:r>
          </a:p>
        </p:txBody>
      </p:sp>
      <p:sp>
        <p:nvSpPr>
          <p:cNvPr id="100039" name="Label"/>
          <p:cNvSpPr txBox="1"/>
          <p:nvPr/>
        </p:nvSpPr>
        <p:spPr>
          <a:xfrm xmlns:a="http://schemas.openxmlformats.org/drawingml/2006/main">
            <a:off x="720000" y="360000"/>
            <a:ext cx="57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F62FE"/>
                </a:solidFill>
              </a:rPr>
              <a:t>IBM BOB INTEGRATION</a:t>
            </a:r>
          </a:p>
        </p:txBody>
      </p:sp>
      <p:sp>
        <p:nvSpPr>
          <p:cNvPr id="100040" name="Title"/>
          <p:cNvSpPr txBox="1"/>
          <p:nvPr/>
        </p:nvSpPr>
        <p:spPr>
          <a:xfrm xmlns:a="http://schemas.openxmlformats.org/drawingml/2006/main">
            <a:off x="720000" y="648000"/>
            <a:ext cx="1044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01D6C"/>
                </a:solidFill>
              </a:rPr>
              <a:t>Bob investigates the plan — it doesn't invent it</a:t>
            </a:r>
          </a:p>
        </p:txBody>
      </p:sp>
      <p:sp>
        <p:nvSpPr>
          <p:cNvPr id="100041" name="Rule1"/>
          <p:cNvSpPr txBox="1"/>
          <p:nvPr/>
        </p:nvSpPr>
        <p:spPr>
          <a:xfrm xmlns:a="http://schemas.openxmlformats.org/drawingml/2006/main">
            <a:off x="720000" y="1800000"/>
            <a:ext cx="486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1.  Inspect source first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Bob reads src/frontend/app.js before explaining any score or assignment.</a:t>
            </a:r>
          </a:p>
        </p:txBody>
      </p:sp>
      <p:sp>
        <p:nvSpPr>
          <p:cNvPr id="100042" name="Rule2"/>
          <p:cNvSpPr txBox="1"/>
          <p:nvPr/>
        </p:nvSpPr>
        <p:spPr>
          <a:xfrm xmlns:a="http://schemas.openxmlformats.org/drawingml/2006/main">
            <a:off x="720000" y="3024000"/>
            <a:ext cx="486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2.  No invented facts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Bob treats all data as a scenario snapshot — never fabricates weather, berth, cargo, or regulatory details.</a:t>
            </a:r>
          </a:p>
        </p:txBody>
      </p:sp>
      <p:sp>
        <p:nvSpPr>
          <p:cNvPr id="100043" name="Rule3"/>
          <p:cNvSpPr txBox="1"/>
          <p:nvPr/>
        </p:nvSpPr>
        <p:spPr>
          <a:xfrm xmlns:a="http://schemas.openxmlformats.org/drawingml/2006/main">
            <a:off x="720000" y="4248000"/>
            <a:ext cx="486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3.  Human in the loop</a:t>
            </a:r>
          </a:p>
          <a:p xmlns:a="http://schemas.openxmlformats.org/drawingml/2006/main">
            <a:r>
              <a:rPr lang="en-US" sz="1400" b="0">
                <a:solidFill>
                  <a:srgbClr val="1E293B"/>
                </a:solidFill>
              </a:rPr>
              <a:t>Every recommendation is phrased as a suggestion requiring supervisor confirmation before execution.</a:t>
            </a:r>
          </a:p>
        </p:txBody>
      </p:sp>
      <p:sp>
        <p:nvSpPr>
          <p:cNvPr id="100044" name="Output"/>
          <p:cNvSpPr txBox="1"/>
          <p:nvPr/>
        </p:nvSpPr>
        <p:spPr>
          <a:xfrm xmlns:a="http://schemas.openxmlformats.org/drawingml/2006/main">
            <a:off x="5940000" y="1800000"/>
            <a:ext cx="4860000" cy="345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>Bob Output Format</a:t>
            </a:r>
          </a:p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>BLUF  →  3-sentence operational summary</a:t>
            </a:r>
          </a:p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>Priority Actions  →  Top risks with score, drivers, consequence</a:t>
            </a:r>
          </a:p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>Why These Actions  →  Validated against calculateRisk() and createPlan() logic</a:t>
            </a:r>
          </a:p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0043CE"/>
                </a:solidFill>
              </a:rPr>
              <a:t>Assumptions &amp; Checks  →  Data gaps, human decisions, next step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1D6C"/>
        </a:solidFill>
      </p:bgPr>
    </p:bg>
    <p:spTree>
      <p:nvGrpSpPr>
        <p:cNvPr id="1" name=""/>
        <p:cNvGrpSpPr/>
        <p:nvPr/>
      </p:nvGrpSpPr>
      <p:grpSpPr/>
      <p:sp>
        <p:nvSpPr>
          <p:cNvPr id="100045" name="Label"/>
          <p:cNvSpPr txBox="1"/>
          <p:nvPr/>
        </p:nvSpPr>
        <p:spPr>
          <a:xfrm xmlns:a="http://schemas.openxmlformats.org/drawingml/2006/main">
            <a:off x="720000" y="504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A6C8FF"/>
                </a:solidFill>
              </a:rPr>
              <a:t>IMPACT &amp; ASK</a:t>
            </a:r>
          </a:p>
        </p:txBody>
      </p:sp>
      <p:sp>
        <p:nvSpPr>
          <p:cNvPr id="100046" name="Title"/>
          <p:cNvSpPr txBox="1"/>
          <p:nvPr/>
        </p:nvSpPr>
        <p:spPr>
          <a:xfrm xmlns:a="http://schemas.openxmlformats.org/drawingml/2006/main">
            <a:off x="720000" y="864000"/>
            <a:ext cx="104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Make congestion visible before it becomes a queue.</a:t>
            </a:r>
          </a:p>
        </p:txBody>
      </p:sp>
      <p:sp>
        <p:nvSpPr>
          <p:cNvPr id="100047" name="I1"/>
          <p:cNvSpPr txBox="1"/>
          <p:nvPr/>
        </p:nvSpPr>
        <p:spPr>
          <a:xfrm xmlns:a="http://schemas.openxmlformats.org/drawingml/2006/main">
            <a:off x="720000" y="2304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D0E2FF"/>
                </a:solidFill>
              </a:rPr>
              <a:t>✓  Supervisors get a ranked 72-hour picture with SVG ring gauges and cited risk drivers — not just numbers.</a:t>
            </a:r>
          </a:p>
        </p:txBody>
      </p:sp>
      <p:sp>
        <p:nvSpPr>
          <p:cNvPr id="100048" name="I2"/>
          <p:cNvSpPr txBox="1"/>
          <p:nvPr/>
        </p:nvSpPr>
        <p:spPr>
          <a:xfrm xmlns:a="http://schemas.openxmlformats.org/drawingml/2006/main">
            <a:off x="720000" y="2880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D0E2FF"/>
                </a:solidFill>
              </a:rPr>
              <a:t>✓  What-if scenarios stay local — weather, berth outage, and delay changes never rewrite the database.</a:t>
            </a:r>
          </a:p>
        </p:txBody>
      </p:sp>
      <p:sp>
        <p:nvSpPr>
          <p:cNvPr id="100049" name="I3"/>
          <p:cNvSpPr txBox="1"/>
          <p:nvPr/>
        </p:nvSpPr>
        <p:spPr>
          <a:xfrm xmlns:a="http://schemas.openxmlformats.org/drawingml/2006/main">
            <a:off x="720000" y="3456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D0E2FF"/>
                </a:solidFill>
              </a:rPr>
              <a:t>✓  Before/after plan diff shows exactly which vessels moved berths and by how much — instantly reviewable.</a:t>
            </a:r>
          </a:p>
        </p:txBody>
      </p:sp>
      <p:sp>
        <p:nvSpPr>
          <p:cNvPr id="100050" name="I4"/>
          <p:cNvSpPr txBox="1"/>
          <p:nvPr/>
        </p:nvSpPr>
        <p:spPr>
          <a:xfrm xmlns:a="http://schemas.openxmlformats.org/drawingml/2006/main">
            <a:off x="720000" y="403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D0E2FF"/>
                </a:solidFill>
              </a:rPr>
              <a:t>✓  Bob produces a BLUF brief grounded in the current plan — no invented facts, fully auditable.</a:t>
            </a:r>
          </a:p>
        </p:txBody>
      </p:sp>
      <p:sp>
        <p:nvSpPr>
          <p:cNvPr id="100051" name="Limit"/>
          <p:cNvSpPr txBox="1"/>
          <p:nvPr/>
        </p:nvSpPr>
        <p:spPr>
          <a:xfrm xmlns:a="http://schemas.openxmlformats.org/drawingml/2006/main">
            <a:off x="720000" y="4896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4A6FA5"/>
                </a:solidFill>
              </a:rPr>
              <a:t>Prototype: synthetic data · human approval required · no terminal control · SQLite local dev</a:t>
            </a:r>
          </a:p>
        </p:txBody>
      </p:sp>
      <p:sp>
        <p:nvSpPr>
          <p:cNvPr id="100052" name="Team"/>
          <p:cNvSpPr txBox="1"/>
          <p:nvPr/>
        </p:nvSpPr>
        <p:spPr>
          <a:xfrm xmlns:a="http://schemas.openxmlformats.org/drawingml/2006/main">
            <a:off x="720000" y="6048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8AB4F8"/>
                </a:solidFill>
              </a:rPr>
              <a:t>HarborLens Crew  ·  Dhruv Patel  ·  Kavya Patel  ·  Tirth Kakadia  ·  Om Patel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2026-09-15T05:07:02Z</dcterms:created>
  <cp:lastModifiedBy>OfficeCLI</cp:lastModifiedBy>
  <dcterms:modified xsi:type="dcterms:W3CDTF">2026-09-15T05:07:02Z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2026-09-15T05:07:05Z</vt:lpwstr>
  </op:property>
</op:Properties>
</file>